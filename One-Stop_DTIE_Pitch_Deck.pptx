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Section and batch lines are left as in the template - fill in your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and guide are from your earlier deck. Add student IDs or roles if your faculty asks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 is built from the Objectives slide of your earlier deck. The vision sentence is drafted from the same objectives - edit to match your team's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your earlier deck (The Problem, Define and Abstract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Background Study / Literature Survey slide of your earlier deck. It has no market-size figures, so none are shown - add sourced numbers here if your faculty expects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Empathy map is from your earlier deck (Empathy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earlier deck has no named competitors. The rows are categories of existing options (from the Research Gap slide) and the Yes/Partly/No ratings are a draft - check them and add named benchmarks (for example specific platforms)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from your earlier deck (Research Gap). The four risks and mitigations are drafted by me as reasonable ones for this kind of platform - edit to match what your team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and core feature set (from multi-voting) are from your earlier deck. Dashboard mock is the Prototype slide; 82% is sample data, not a real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Storyboard (Demonstration slide), Input-Process-Output and technology stack are from your earlier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Problem, solution and customer segment come from your earlier deck. Unfair advantage, channels, metrics, costs and revenue streams are drafted by me from the project's scope - the earlier deck had no business model, so please check these with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Infrastructure figures are from the H/W Components slide of your earlier deck. The deck has no cost amounts, so none are shown - add estimated costs (for example from a cloud pricing calculator) before presenting. The funding options are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1-3 follow the design-thinking stages in your earlier deck; phases 4-6 are a proposed build order drawn from its core feature set and 'future AI growth'. No dates are given because the earlier deck has none - add your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320749"/>
            <a:ext cx="10360152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 sz="3000">
                <a:latin typeface="Carlito"/>
                <a:cs typeface="Carlito"/>
              </a:rPr>
              <a:t>One-Stop: Personalized Career &amp; Education Advisor</a:t>
            </a:r>
            <a:endParaRPr b="1" spc="-1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00B0F0"/>
                </a:solidFill>
                <a:latin typeface="Trebuchet MS"/>
                <a:cs typeface="Trebuchet MS"/>
              </a:rPr>
              <a:t>Design Thinking for innovation &amp; Entrepreneurship (DTIE)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3200" spc="-11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Section :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endParaRPr sz="32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lang="en-US" sz="2400" spc="-100" dirty="0">
                <a:solidFill>
                  <a:srgbClr val="00B050"/>
                </a:solidFill>
                <a:latin typeface="Trebuchet MS"/>
                <a:cs typeface="Trebuchet MS"/>
              </a:rPr>
              <a:t>Project Batch-A</a:t>
            </a:r>
            <a:endParaRPr sz="2400" dirty="0">
              <a:solidFill>
                <a:srgbClr val="00B050"/>
              </a:solidFill>
              <a:latin typeface="Trebuchet MS"/>
              <a:cs typeface="Trebuchet MS"/>
            </a:endParaRPr>
          </a:p>
        </p:txBody>
      </p:sp>
      <p:sp>
        <p:nvSpPr>
          <p:cNvPr id="4" name="Tagline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lIns="109728" rIns="109728" tIns="76809" bIns="76809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000" b="0" i="1">
                <a:solidFill>
                  <a:srgbClr val="595959"/>
                </a:solidFill>
                <a:latin typeface="Calibri"/>
              </a:rPr>
              <a:t>Discover Your Path. Plan Your Future.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Card Rupasri"/>
          <p:cNvSpPr/>
          <p:nvPr/>
        </p:nvSpPr>
        <p:spPr>
          <a:xfrm>
            <a:off x="914400" y="16002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9476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" name="Name Rupasri"/>
          <p:cNvSpPr txBox="1"/>
          <p:nvPr/>
        </p:nvSpPr>
        <p:spPr>
          <a:xfrm>
            <a:off x="2011680" y="1874519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Rupasri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10" name="Card Yasaswini"/>
          <p:cNvSpPr/>
          <p:nvPr/>
        </p:nvSpPr>
        <p:spPr>
          <a:xfrm>
            <a:off x="4459224" y="16002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3544" y="19476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2" name="Name Yasaswini"/>
          <p:cNvSpPr txBox="1"/>
          <p:nvPr/>
        </p:nvSpPr>
        <p:spPr>
          <a:xfrm>
            <a:off x="5556504" y="1874519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Yasaswini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13" name="Card Varshita"/>
          <p:cNvSpPr/>
          <p:nvPr/>
        </p:nvSpPr>
        <p:spPr>
          <a:xfrm>
            <a:off x="8004048" y="16002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8368" y="19476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5" name="Name Varshita"/>
          <p:cNvSpPr txBox="1"/>
          <p:nvPr/>
        </p:nvSpPr>
        <p:spPr>
          <a:xfrm>
            <a:off x="9101328" y="1874519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Varshita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16" name="Card Aadhyaa"/>
          <p:cNvSpPr/>
          <p:nvPr/>
        </p:nvSpPr>
        <p:spPr>
          <a:xfrm>
            <a:off x="914400" y="32004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35478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Name Aadhyaa"/>
          <p:cNvSpPr txBox="1"/>
          <p:nvPr/>
        </p:nvSpPr>
        <p:spPr>
          <a:xfrm>
            <a:off x="2011680" y="3474720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Aadhyaa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19" name="Card Pooja"/>
          <p:cNvSpPr/>
          <p:nvPr/>
        </p:nvSpPr>
        <p:spPr>
          <a:xfrm>
            <a:off x="4459224" y="32004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33544" y="35478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" name="Name Pooja"/>
          <p:cNvSpPr txBox="1"/>
          <p:nvPr/>
        </p:nvSpPr>
        <p:spPr>
          <a:xfrm>
            <a:off x="5556504" y="3474720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Pooja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22" name="Card Laxmi Sankeerthana"/>
          <p:cNvSpPr/>
          <p:nvPr/>
        </p:nvSpPr>
        <p:spPr>
          <a:xfrm>
            <a:off x="8004048" y="3200400"/>
            <a:ext cx="3270504" cy="13716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8368" y="3547872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4" name="Name Laxmi Sankeerthana"/>
          <p:cNvSpPr txBox="1"/>
          <p:nvPr/>
        </p:nvSpPr>
        <p:spPr>
          <a:xfrm>
            <a:off x="9101328" y="3474720"/>
            <a:ext cx="2081783" cy="82296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Laxmi Sankeerthana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Team member</a:t>
            </a:r>
          </a:p>
        </p:txBody>
      </p:sp>
      <p:sp>
        <p:nvSpPr>
          <p:cNvPr id="25" name="Guide"/>
          <p:cNvSpPr/>
          <p:nvPr/>
        </p:nvSpPr>
        <p:spPr>
          <a:xfrm>
            <a:off x="914400" y="4892040"/>
            <a:ext cx="10360152" cy="86868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Calibri"/>
              </a:rPr>
              <a:t>Under the guidance of  Sudhakar Gudlnarva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Vision"/>
          <p:cNvSpPr/>
          <p:nvPr/>
        </p:nvSpPr>
        <p:spPr>
          <a:xfrm>
            <a:off x="914400" y="1600200"/>
            <a:ext cx="4846320" cy="402336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4027" bIns="224027"/>
          <a:lstStyle/>
          <a:p>
            <a:pPr algn="l">
              <a:spcAft>
                <a:spcPts val="10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VISION</a:t>
            </a:r>
          </a:p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Every student finds a career and education path that fits them, with clarity instead of guesswork.</a:t>
            </a:r>
          </a:p>
        </p:txBody>
      </p:sp>
      <p:sp>
        <p:nvSpPr>
          <p:cNvPr id="14" name="Mission"/>
          <p:cNvSpPr/>
          <p:nvPr/>
        </p:nvSpPr>
        <p:spPr>
          <a:xfrm>
            <a:off x="6035040" y="1600200"/>
            <a:ext cx="5239512" cy="40233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4027" bIns="224027"/>
          <a:lstStyle/>
          <a:p>
            <a:pPr algn="l">
              <a:spcAft>
                <a:spcPts val="10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MISSION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Calibri"/>
              </a:rPr>
              <a:t>Analyse academics, interests, skills, aptitude and personality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Calibri"/>
              </a:rPr>
              <a:t>Recommend suitable careers, courses, colleges and learning resources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Calibri"/>
              </a:rPr>
              <a:t>Show the skill gaps between a student's current abilities and career needs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62626"/>
                </a:solidFill>
                <a:latin typeface="Calibri"/>
              </a:rPr>
              <a:t>Connect career choice, education planning, skill building and job guidance on one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Problem"/>
          <p:cNvSpPr/>
          <p:nvPr/>
        </p:nvSpPr>
        <p:spPr>
          <a:xfrm>
            <a:off x="914400" y="1600200"/>
            <a:ext cx="5029200" cy="34290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8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THE PROBLEM</a:t>
            </a:r>
          </a:p>
          <a:p>
            <a:pPr algn="l">
              <a:spcAft>
                <a:spcPts val="1000"/>
              </a:spcAft>
              <a:buNone/>
            </a:pPr>
            <a:r>
              <a:rPr sz="2000" b="1" i="0">
                <a:solidFill>
                  <a:srgbClr val="262626"/>
                </a:solidFill>
                <a:latin typeface="Calibri"/>
              </a:rPr>
              <a:t>Students are overwhelmed by scattered information and expensive career guidance.</a:t>
            </a:r>
          </a:p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Calibri"/>
              </a:rPr>
              <a:t>They face a complex array of academic paths and job options, and may choose a career through peer pressure or incomplete data.</a:t>
            </a:r>
          </a:p>
        </p:txBody>
      </p:sp>
      <p:sp>
        <p:nvSpPr>
          <p:cNvPr id="8" name="Chip Careers"/>
          <p:cNvSpPr/>
          <p:nvPr/>
        </p:nvSpPr>
        <p:spPr>
          <a:xfrm>
            <a:off x="6217920" y="1600200"/>
            <a:ext cx="5056632" cy="603504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192024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Careers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Many possible directions</a:t>
            </a:r>
          </a:p>
        </p:txBody>
      </p:sp>
      <p:sp>
        <p:nvSpPr>
          <p:cNvPr id="11" name="Chip Courses"/>
          <p:cNvSpPr/>
          <p:nvPr/>
        </p:nvSpPr>
        <p:spPr>
          <a:xfrm>
            <a:off x="6217920" y="2295144"/>
            <a:ext cx="5056632" cy="603504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95144"/>
            <a:ext cx="192024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95144"/>
            <a:ext cx="301752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Too many choices</a:t>
            </a:r>
          </a:p>
        </p:txBody>
      </p:sp>
      <p:sp>
        <p:nvSpPr>
          <p:cNvPr id="14" name="Chip Colleges"/>
          <p:cNvSpPr/>
          <p:nvPr/>
        </p:nvSpPr>
        <p:spPr>
          <a:xfrm>
            <a:off x="6217920" y="2990088"/>
            <a:ext cx="5056632" cy="603504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90088"/>
            <a:ext cx="192024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Colleges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90088"/>
            <a:ext cx="301752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Options to compare</a:t>
            </a:r>
          </a:p>
        </p:txBody>
      </p:sp>
      <p:sp>
        <p:nvSpPr>
          <p:cNvPr id="17" name="Chip Scholarships"/>
          <p:cNvSpPr/>
          <p:nvPr/>
        </p:nvSpPr>
        <p:spPr>
          <a:xfrm>
            <a:off x="6217920" y="3685032"/>
            <a:ext cx="5056632" cy="603504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85032"/>
            <a:ext cx="192024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Scholarships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85032"/>
            <a:ext cx="301752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Support is scattered</a:t>
            </a:r>
          </a:p>
        </p:txBody>
      </p:sp>
      <p:sp>
        <p:nvSpPr>
          <p:cNvPr id="20" name="Chip Jobs"/>
          <p:cNvSpPr/>
          <p:nvPr/>
        </p:nvSpPr>
        <p:spPr>
          <a:xfrm>
            <a:off x="6217920" y="4379976"/>
            <a:ext cx="5056632" cy="603504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79976"/>
            <a:ext cx="192024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79976"/>
            <a:ext cx="3017520" cy="603504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Future outcomes to consider</a:t>
            </a:r>
          </a:p>
        </p:txBody>
      </p:sp>
      <p:sp>
        <p:nvSpPr>
          <p:cNvPr id="23" name="HMW"/>
          <p:cNvSpPr/>
          <p:nvPr/>
        </p:nvSpPr>
        <p:spPr>
          <a:xfrm>
            <a:off x="914400" y="5212080"/>
            <a:ext cx="10360152" cy="86868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60020"/>
          <a:lstStyle/>
          <a:p>
            <a:pPr algn="l">
              <a:spcAft>
                <a:spcPts val="200"/>
              </a:spcAft>
              <a:buNone/>
            </a:pPr>
            <a:r>
              <a:rPr sz="1200" b="0" i="0">
                <a:solidFill>
                  <a:srgbClr val="D9D9D9"/>
                </a:solidFill>
                <a:latin typeface="Calibri"/>
              </a:rPr>
              <a:t>HOW MIGHT WE</a:t>
            </a:r>
          </a:p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help students make informed career and education decisions without searching through many disconnected sources?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ext cx="10789920" cy="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</a:t>
            </a:r>
            <a:r>
              <a:rPr spc="-170" dirty="0"/>
              <a:t> </a:t>
            </a:r>
            <a:r>
              <a:rPr dirty="0"/>
              <a:t>/</a:t>
            </a:r>
            <a:r>
              <a:rPr spc="-120" dirty="0"/>
              <a:t> </a:t>
            </a:r>
            <a:r>
              <a:rPr spc="-55" dirty="0"/>
              <a:t>Facts</a:t>
            </a:r>
            <a:r>
              <a:rPr spc="-15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spc="-95" dirty="0"/>
              <a:t>Market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70" dirty="0"/>
              <a:t>Industry</a:t>
            </a:r>
            <a:r>
              <a:rPr spc="-165" dirty="0"/>
              <a:t> </a:t>
            </a:r>
            <a:r>
              <a:rPr spc="-10" dirty="0"/>
              <a:t>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Background study"/>
          <p:cNvSpPr/>
          <p:nvPr/>
        </p:nvSpPr>
        <p:spPr>
          <a:xfrm>
            <a:off x="914400" y="1600200"/>
            <a:ext cx="3270504" cy="35661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1200"/>
              </a:spcAft>
              <a:buNone/>
            </a:pPr>
            <a:r>
              <a:rPr sz="1900" b="1" i="0">
                <a:solidFill>
                  <a:srgbClr val="262626"/>
                </a:solidFill>
                <a:latin typeface="Calibri"/>
              </a:rPr>
              <a:t>Background study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Career selection is hard because of the wide range of careers, courses and education options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Traditional counselling is generalised, time-consuming and not continuously personalised</a:t>
            </a:r>
          </a:p>
        </p:txBody>
      </p:sp>
      <p:sp>
        <p:nvSpPr>
          <p:cNvPr id="8" name="What exists today"/>
          <p:cNvSpPr/>
          <p:nvPr/>
        </p:nvSpPr>
        <p:spPr>
          <a:xfrm>
            <a:off x="4459224" y="1600200"/>
            <a:ext cx="3270504" cy="35661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1200"/>
              </a:spcAft>
              <a:buNone/>
            </a:pPr>
            <a:r>
              <a:rPr sz="1900" b="1" i="0">
                <a:solidFill>
                  <a:srgbClr val="262626"/>
                </a:solidFill>
                <a:latin typeface="Calibri"/>
              </a:rPr>
              <a:t>What exists today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Recent systems use AI/ML, recommendation systems and psychological assessments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Careers, courses, colleges, certifications and jobs are often recommended separately</a:t>
            </a:r>
          </a:p>
        </p:txBody>
      </p:sp>
      <p:sp>
        <p:nvSpPr>
          <p:cNvPr id="9" name="Research gap"/>
          <p:cNvSpPr/>
          <p:nvPr/>
        </p:nvSpPr>
        <p:spPr>
          <a:xfrm>
            <a:off x="8004048" y="1600200"/>
            <a:ext cx="3270504" cy="3566160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12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Calibri"/>
              </a:rPr>
              <a:t>Research gap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No single platform gives complete career and education guidance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Career recommendation and skill-gap analysis are rarely integrated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 student's changing profile is rarely considered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Persona"/>
          <p:cNvSpPr/>
          <p:nvPr/>
        </p:nvSpPr>
        <p:spPr>
          <a:xfrm>
            <a:off x="914400" y="1600200"/>
            <a:ext cx="3200400" cy="365760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TARGET USER</a:t>
            </a:r>
          </a:p>
          <a:p>
            <a:pPr algn="l">
              <a:spcAft>
                <a:spcPts val="10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student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Choosing a career, course or college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Unsure what fits and what comes next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Needs guidance that is personal and affordable</a:t>
            </a:r>
          </a:p>
        </p:txBody>
      </p:sp>
      <p:sp>
        <p:nvSpPr>
          <p:cNvPr id="8" name="Empathy SEES"/>
          <p:cNvSpPr/>
          <p:nvPr/>
        </p:nvSpPr>
        <p:spPr>
          <a:xfrm>
            <a:off x="4389120" y="1600200"/>
            <a:ext cx="3328416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92024" bIns="192024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SEES</a:t>
            </a:r>
          </a:p>
          <a:p>
            <a:pPr algn="l">
              <a:spcAft>
                <a:spcPts val="400"/>
              </a:spcAft>
              <a:buNone/>
            </a:pPr>
            <a:r>
              <a:rPr sz="2200" b="1" i="0">
                <a:solidFill>
                  <a:srgbClr val="262626"/>
                </a:solidFill>
                <a:latin typeface="Calibri"/>
              </a:rPr>
              <a:t>Too many choices</a:t>
            </a:r>
          </a:p>
        </p:txBody>
      </p:sp>
      <p:sp>
        <p:nvSpPr>
          <p:cNvPr id="9" name="Empathy THINKS"/>
          <p:cNvSpPr/>
          <p:nvPr/>
        </p:nvSpPr>
        <p:spPr>
          <a:xfrm>
            <a:off x="7946136" y="1600200"/>
            <a:ext cx="3328416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92024" bIns="192024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THINKS</a:t>
            </a:r>
          </a:p>
          <a:p>
            <a:pPr algn="l">
              <a:spcAft>
                <a:spcPts val="400"/>
              </a:spcAft>
              <a:buNone/>
            </a:pPr>
            <a:r>
              <a:rPr sz="2200" b="1" i="0">
                <a:solidFill>
                  <a:srgbClr val="262626"/>
                </a:solidFill>
                <a:latin typeface="Calibri"/>
              </a:rPr>
              <a:t>“What fits me?”</a:t>
            </a:r>
          </a:p>
        </p:txBody>
      </p:sp>
      <p:sp>
        <p:nvSpPr>
          <p:cNvPr id="10" name="Empathy FEELS"/>
          <p:cNvSpPr/>
          <p:nvPr/>
        </p:nvSpPr>
        <p:spPr>
          <a:xfrm>
            <a:off x="4389120" y="3429000"/>
            <a:ext cx="3328416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92024" bIns="192024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FEELS</a:t>
            </a:r>
          </a:p>
          <a:p>
            <a:pPr algn="l">
              <a:spcAft>
                <a:spcPts val="400"/>
              </a:spcAft>
              <a:buNone/>
            </a:pPr>
            <a:r>
              <a:rPr sz="2200" b="1" i="0">
                <a:solidFill>
                  <a:srgbClr val="262626"/>
                </a:solidFill>
                <a:latin typeface="Calibri"/>
              </a:rPr>
              <a:t>Uncertain and pressured</a:t>
            </a:r>
          </a:p>
        </p:txBody>
      </p:sp>
      <p:sp>
        <p:nvSpPr>
          <p:cNvPr id="11" name="Empathy NEEDS"/>
          <p:cNvSpPr/>
          <p:nvPr/>
        </p:nvSpPr>
        <p:spPr>
          <a:xfrm>
            <a:off x="7946136" y="3429000"/>
            <a:ext cx="3328416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92024" bIns="192024"/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NEEDS</a:t>
            </a:r>
          </a:p>
          <a:p>
            <a:pPr algn="l">
              <a:spcAft>
                <a:spcPts val="400"/>
              </a:spcAft>
              <a:buNone/>
            </a:pPr>
            <a:r>
              <a:rPr sz="2200" b="1" i="0">
                <a:solidFill>
                  <a:srgbClr val="262626"/>
                </a:solidFill>
                <a:latin typeface="Calibri"/>
              </a:rPr>
              <a:t>Personalized guidance</a:t>
            </a:r>
          </a:p>
        </p:txBody>
      </p:sp>
      <p:sp>
        <p:nvSpPr>
          <p:cNvPr id="12" name="Insight"/>
          <p:cNvSpPr/>
          <p:nvPr/>
        </p:nvSpPr>
        <p:spPr>
          <a:xfrm>
            <a:off x="914400" y="5440680"/>
            <a:ext cx="10360152" cy="59436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Students need a connected path, not another isolated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00200"/>
          <a:ext cx="1036015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69492"/>
                <a:gridCol w="1269492"/>
                <a:gridCol w="1269492"/>
                <a:gridCol w="1269492"/>
                <a:gridCol w="1269492"/>
                <a:gridCol w="126949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Existing option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Career match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Skill-gap analysis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Courses and colleges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Learning roadmap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Job guidance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Personalised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Traditional counselling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Aptitude / career test sites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B2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College and course listing sites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Job and internship portals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E9E9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One-Stop (our solution)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  <p:sp>
        <p:nvSpPr>
          <p:cNvPr id="8" name="Takeaway"/>
          <p:cNvSpPr txBox="1"/>
          <p:nvPr/>
        </p:nvSpPr>
        <p:spPr>
          <a:xfrm>
            <a:off x="914400" y="5349240"/>
            <a:ext cx="10360152" cy="73152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1" i="0">
                <a:solidFill>
                  <a:srgbClr val="C00000"/>
                </a:solidFill>
                <a:latin typeface="Calibri"/>
              </a:rPr>
              <a:t>Only One-Stop connects all six in a single flow.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Category-level comparison drafted from the literature survey; replace with named products once benchmarked.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Gap"/>
          <p:cNvSpPr/>
          <p:nvPr/>
        </p:nvSpPr>
        <p:spPr>
          <a:xfrm>
            <a:off x="914400" y="1600200"/>
            <a:ext cx="4572000" cy="4389120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92024" bIns="192024"/>
          <a:lstStyle/>
          <a:p>
            <a:pPr algn="l">
              <a:spcAft>
                <a:spcPts val="10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THE GAP WE FILL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No single platform covers career and education guidance together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Career recommendation and skill-gap analysis are loosely connected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Courses, colleges, certifications and jobs are suggested in separate places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A student's changing profile is rarely taken into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00200"/>
            <a:ext cx="5513832" cy="36576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Calibri"/>
              </a:rPr>
              <a:t>RISKS AND HOW WE HANDLE THEM</a:t>
            </a:r>
          </a:p>
        </p:txBody>
      </p:sp>
      <p:sp>
        <p:nvSpPr>
          <p:cNvPr id="9" name="Risk 1"/>
          <p:cNvSpPr/>
          <p:nvPr/>
        </p:nvSpPr>
        <p:spPr>
          <a:xfrm>
            <a:off x="5760720" y="2011680"/>
            <a:ext cx="5513832" cy="9144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22402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91440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600" b="1" i="0">
                <a:solidFill>
                  <a:srgbClr val="262626"/>
                </a:solidFill>
                <a:latin typeface="Calibri"/>
              </a:rPr>
              <a:t>Outdated or wrong data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Keep course, college and scholarship records current</a:t>
            </a:r>
          </a:p>
        </p:txBody>
      </p:sp>
      <p:sp>
        <p:nvSpPr>
          <p:cNvPr id="12" name="Risk 2"/>
          <p:cNvSpPr/>
          <p:nvPr/>
        </p:nvSpPr>
        <p:spPr>
          <a:xfrm>
            <a:off x="5760720" y="3017520"/>
            <a:ext cx="5513832" cy="9144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97880" y="32461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663440" cy="91440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600" b="1" i="0">
                <a:solidFill>
                  <a:srgbClr val="262626"/>
                </a:solidFill>
                <a:latin typeface="Calibri"/>
              </a:rPr>
              <a:t>Unclear or biased matches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Show why a career was suggested; allow counsellor review</a:t>
            </a:r>
          </a:p>
        </p:txBody>
      </p:sp>
      <p:sp>
        <p:nvSpPr>
          <p:cNvPr id="15" name="Risk 3"/>
          <p:cNvSpPr/>
          <p:nvPr/>
        </p:nvSpPr>
        <p:spPr>
          <a:xfrm>
            <a:off x="5760720" y="4023360"/>
            <a:ext cx="5513832" cy="9144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97880" y="42519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663440" cy="91440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600" b="1" i="0">
                <a:solidFill>
                  <a:srgbClr val="262626"/>
                </a:solidFill>
                <a:latin typeface="Calibri"/>
              </a:rPr>
              <a:t>Student data privacy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Collect only what is needed; protect with access control</a:t>
            </a:r>
          </a:p>
        </p:txBody>
      </p:sp>
      <p:sp>
        <p:nvSpPr>
          <p:cNvPr id="18" name="Risk 4"/>
          <p:cNvSpPr/>
          <p:nvPr/>
        </p:nvSpPr>
        <p:spPr>
          <a:xfrm>
            <a:off x="5760720" y="5029200"/>
            <a:ext cx="5513832" cy="9144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97880" y="52578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663440" cy="91440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600" b="1" i="0">
                <a:solidFill>
                  <a:srgbClr val="262626"/>
                </a:solidFill>
                <a:latin typeface="Calibri"/>
              </a:rPr>
              <a:t>Low trust or awareness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595959"/>
                </a:solidFill>
                <a:latin typeface="Calibri"/>
              </a:rPr>
              <a:t>Pilot with colleges and student groups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Concept"/>
          <p:cNvSpPr txBox="1"/>
          <p:nvPr/>
        </p:nvSpPr>
        <p:spPr>
          <a:xfrm>
            <a:off x="914400" y="1600200"/>
            <a:ext cx="5669280" cy="109728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One-Stop turns a student's profile into a career direction, matching courses and colleges, and a learning roadmap.</a:t>
            </a:r>
          </a:p>
        </p:txBody>
      </p:sp>
      <p:sp>
        <p:nvSpPr>
          <p:cNvPr id="8" name="Feature 1"/>
          <p:cNvSpPr/>
          <p:nvPr/>
        </p:nvSpPr>
        <p:spPr>
          <a:xfrm>
            <a:off x="914400" y="2788920"/>
            <a:ext cx="5669280" cy="56692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843784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493776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Career assessment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88920"/>
            <a:ext cx="274320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interests, aptitude, personality</a:t>
            </a:r>
          </a:p>
        </p:txBody>
      </p:sp>
      <p:sp>
        <p:nvSpPr>
          <p:cNvPr id="12" name="Feature 2"/>
          <p:cNvSpPr/>
          <p:nvPr/>
        </p:nvSpPr>
        <p:spPr>
          <a:xfrm>
            <a:off x="914400" y="3447287"/>
            <a:ext cx="5669280" cy="56692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502151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47287"/>
            <a:ext cx="493776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Career recommender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47287"/>
            <a:ext cx="274320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profile to suitable paths</a:t>
            </a:r>
          </a:p>
        </p:txBody>
      </p:sp>
      <p:sp>
        <p:nvSpPr>
          <p:cNvPr id="16" name="Feature 3"/>
          <p:cNvSpPr/>
          <p:nvPr/>
        </p:nvSpPr>
        <p:spPr>
          <a:xfrm>
            <a:off x="914400" y="4105656"/>
            <a:ext cx="5669280" cy="56692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05656"/>
            <a:ext cx="493776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Skill-gap analysis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105656"/>
            <a:ext cx="274320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current skills vs. career needs</a:t>
            </a:r>
          </a:p>
        </p:txBody>
      </p:sp>
      <p:sp>
        <p:nvSpPr>
          <p:cNvPr id="20" name="Feature 4"/>
          <p:cNvSpPr/>
          <p:nvPr/>
        </p:nvSpPr>
        <p:spPr>
          <a:xfrm>
            <a:off x="914400" y="4764024"/>
            <a:ext cx="5669280" cy="56692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8188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64024"/>
            <a:ext cx="493776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Course / college finder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764024"/>
            <a:ext cx="274320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education options in context</a:t>
            </a:r>
          </a:p>
        </p:txBody>
      </p:sp>
      <p:sp>
        <p:nvSpPr>
          <p:cNvPr id="24" name="Feature 5"/>
          <p:cNvSpPr/>
          <p:nvPr/>
        </p:nvSpPr>
        <p:spPr>
          <a:xfrm>
            <a:off x="914400" y="5422392"/>
            <a:ext cx="5669280" cy="56692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477255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22392"/>
            <a:ext cx="493776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Learning roadmap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422392"/>
            <a:ext cx="2743200" cy="566928"/>
          </a:xfrm>
          <a:prstGeom prst="rect">
            <a:avLst/>
          </a:prstGeom>
          <a:noFill/>
        </p:spPr>
        <p:txBody>
          <a:bodyPr wrap="square" lIns="27432" rIns="27432" tIns="19202" bIns="1920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goal to actionable sequence</a:t>
            </a:r>
          </a:p>
        </p:txBody>
      </p:sp>
      <p:sp>
        <p:nvSpPr>
          <p:cNvPr id="28" name="Dashboard frame"/>
          <p:cNvSpPr/>
          <p:nvPr/>
        </p:nvSpPr>
        <p:spPr>
          <a:xfrm>
            <a:off x="6903720" y="1600200"/>
            <a:ext cx="4370832" cy="4297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/>
          </a:p>
        </p:txBody>
      </p:sp>
      <p:sp>
        <p:nvSpPr>
          <p:cNvPr id="29" name="Dashboard bar"/>
          <p:cNvSpPr/>
          <p:nvPr/>
        </p:nvSpPr>
        <p:spPr>
          <a:xfrm>
            <a:off x="6903720" y="1600200"/>
            <a:ext cx="4370832" cy="41148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one-stop / student-dashboard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148840"/>
            <a:ext cx="3913632" cy="45720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Calibri"/>
              </a:rPr>
              <a:t>Good morning, Student!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606040"/>
            <a:ext cx="2011680" cy="32004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/>
              </a:rPr>
              <a:t>Your profile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880360"/>
            <a:ext cx="1645920" cy="731520"/>
          </a:xfrm>
          <a:prstGeom prst="rect">
            <a:avLst/>
          </a:prstGeom>
          <a:noFill/>
        </p:spPr>
        <p:txBody>
          <a:bodyPr wrap="square" lIns="45720" rIns="45720" tIns="32003" bIns="32003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1" i="0">
                <a:solidFill>
                  <a:srgbClr val="C00000"/>
                </a:solidFill>
                <a:latin typeface="Calibri"/>
              </a:rPr>
              <a:t>82%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3063240"/>
            <a:ext cx="1097280" cy="365760"/>
          </a:xfrm>
          <a:prstGeom prst="roundRect">
            <a:avLst>
              <a:gd name="adj" fmla="val 7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2801" bIns="12801"/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GOOD FIT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3840480"/>
            <a:ext cx="18288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6012" bIns="96012"/>
          <a:lstStyle/>
          <a:p>
            <a:pPr algn="l">
              <a:spcAft>
                <a:spcPts val="2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/>
              </a:rPr>
              <a:t>CAREER PATH</a:t>
            </a:r>
          </a:p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Software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840480"/>
            <a:ext cx="169164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6012" bIns="96012"/>
          <a:lstStyle/>
          <a:p>
            <a:pPr algn="l">
              <a:spcAft>
                <a:spcPts val="2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/>
              </a:rPr>
              <a:t>SKILL GAP</a:t>
            </a:r>
          </a:p>
          <a:p>
            <a:pPr algn="l">
              <a:spcAft>
                <a:spcPts val="4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Calibri"/>
              </a:rPr>
              <a:t>Java + 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029200"/>
            <a:ext cx="3913632" cy="36576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Calibri"/>
              </a:rPr>
              <a:t>Next: build your learning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440680"/>
            <a:ext cx="3913632" cy="320040"/>
          </a:xfrm>
          <a:prstGeom prst="rect">
            <a:avLst/>
          </a:prstGeom>
          <a:noFill/>
        </p:spPr>
        <p:txBody>
          <a:bodyPr wrap="square" lIns="45720" rIns="45720" tIns="32003" bIns="32003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1">
                <a:solidFill>
                  <a:srgbClr val="595959"/>
                </a:solidFill>
                <a:latin typeface="Calibri"/>
              </a:rPr>
              <a:t>Prototype with sample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54480" y="1737360"/>
            <a:ext cx="1355598" cy="22860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828800" cy="118872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Profile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Enter academic details, interests, skills and goals</a:t>
            </a:r>
          </a:p>
        </p:txBody>
      </p:sp>
      <p:sp>
        <p:nvSpPr>
          <p:cNvPr id="10" name="Oval 9"/>
          <p:cNvSpPr/>
          <p:nvPr/>
        </p:nvSpPr>
        <p:spPr>
          <a:xfrm>
            <a:off x="3047238" y="1600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87318" y="1737360"/>
            <a:ext cx="1355598" cy="22860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7238" y="2194560"/>
            <a:ext cx="1828800" cy="118872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Assess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Complete aptitude and personality inputs</a:t>
            </a:r>
          </a:p>
        </p:txBody>
      </p:sp>
      <p:sp>
        <p:nvSpPr>
          <p:cNvPr id="13" name="Oval 12"/>
          <p:cNvSpPr/>
          <p:nvPr/>
        </p:nvSpPr>
        <p:spPr>
          <a:xfrm>
            <a:off x="5180076" y="1600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20156" y="1737360"/>
            <a:ext cx="1355598" cy="22860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0076" y="2194560"/>
            <a:ext cx="1828800" cy="118872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Match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Receive suitable career pathways</a:t>
            </a:r>
          </a:p>
        </p:txBody>
      </p:sp>
      <p:sp>
        <p:nvSpPr>
          <p:cNvPr id="16" name="Oval 15"/>
          <p:cNvSpPr/>
          <p:nvPr/>
        </p:nvSpPr>
        <p:spPr>
          <a:xfrm>
            <a:off x="7312914" y="1600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52994" y="1737360"/>
            <a:ext cx="1355598" cy="22860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2914" y="2194560"/>
            <a:ext cx="1828800" cy="118872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Plan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Explore courses, colleges and skill gaps</a:t>
            </a:r>
          </a:p>
        </p:txBody>
      </p:sp>
      <p:sp>
        <p:nvSpPr>
          <p:cNvPr id="19" name="Oval 18"/>
          <p:cNvSpPr/>
          <p:nvPr/>
        </p:nvSpPr>
        <p:spPr>
          <a:xfrm>
            <a:off x="9445752" y="1600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94560"/>
            <a:ext cx="1828800" cy="118872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Roadmap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Follow learning, then experience, then career</a:t>
            </a:r>
          </a:p>
        </p:txBody>
      </p:sp>
      <p:sp>
        <p:nvSpPr>
          <p:cNvPr id="21" name="INPUT"/>
          <p:cNvSpPr/>
          <p:nvPr/>
        </p:nvSpPr>
        <p:spPr>
          <a:xfrm>
            <a:off x="914400" y="3520440"/>
            <a:ext cx="3108960" cy="21031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Calibri"/>
              </a:rPr>
              <a:t>INPUT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Student profile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Academic background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Interests and skills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Aptitude / personality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Career goals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96512" y="4434840"/>
            <a:ext cx="370332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CESS"/>
          <p:cNvSpPr/>
          <p:nvPr/>
        </p:nvSpPr>
        <p:spPr>
          <a:xfrm>
            <a:off x="4539996" y="3520440"/>
            <a:ext cx="3108960" cy="21031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Calibri"/>
              </a:rPr>
              <a:t>PROCESS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Profile analysis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Career matching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Skill-gap analysis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Education mapping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22108" y="4434840"/>
            <a:ext cx="370332" cy="27432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UTPUT"/>
          <p:cNvSpPr/>
          <p:nvPr/>
        </p:nvSpPr>
        <p:spPr>
          <a:xfrm>
            <a:off x="8165592" y="3520440"/>
            <a:ext cx="3108960" cy="2103120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Calibri"/>
              </a:rPr>
              <a:t>OUTPUT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Career direction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Courses and colleges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Learning roadmap</a:t>
            </a:r>
          </a:p>
          <a:p>
            <a:pPr algn="l">
              <a:spcAft>
                <a:spcPts val="2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Internship / job guidance</a:t>
            </a:r>
          </a:p>
        </p:txBody>
      </p:sp>
      <p:sp>
        <p:nvSpPr>
          <p:cNvPr id="26" name="Stack"/>
          <p:cNvSpPr txBox="1"/>
          <p:nvPr/>
        </p:nvSpPr>
        <p:spPr>
          <a:xfrm>
            <a:off x="914400" y="5715000"/>
            <a:ext cx="1036015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1" i="0">
                <a:solidFill>
                  <a:srgbClr val="595959"/>
                </a:solidFill>
                <a:latin typeface="Calibri"/>
              </a:rPr>
              <a:t>Built with  Java  ·  MySQL  ·  JDK  ·  VS Code  · 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PROBLEM"/>
          <p:cNvSpPr/>
          <p:nvPr/>
        </p:nvSpPr>
        <p:spPr>
          <a:xfrm>
            <a:off x="914400" y="1600200"/>
            <a:ext cx="2011680" cy="3154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PROBLEM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Information on careers, courses, colleges, scholarships and jobs is scattered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Career guidance is expensive and generic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Choices are driven by peer pressure or incomplete data</a:t>
            </a:r>
          </a:p>
        </p:txBody>
      </p:sp>
      <p:sp>
        <p:nvSpPr>
          <p:cNvPr id="8" name="SOLUTION"/>
          <p:cNvSpPr/>
          <p:nvPr/>
        </p:nvSpPr>
        <p:spPr>
          <a:xfrm>
            <a:off x="3001518" y="1600200"/>
            <a:ext cx="2011680" cy="153962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SOLUTION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Aptitude and profile analysis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Career match + skill gap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Course, college, roadmap</a:t>
            </a:r>
          </a:p>
        </p:txBody>
      </p:sp>
      <p:sp>
        <p:nvSpPr>
          <p:cNvPr id="9" name="KEY METRICS"/>
          <p:cNvSpPr/>
          <p:nvPr/>
        </p:nvSpPr>
        <p:spPr>
          <a:xfrm>
            <a:off x="3001518" y="3215259"/>
            <a:ext cx="2011680" cy="153962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KEY METRICS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Students registered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Assessments completed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Roadmaps generated</a:t>
            </a:r>
          </a:p>
        </p:txBody>
      </p:sp>
      <p:sp>
        <p:nvSpPr>
          <p:cNvPr id="10" name="UNIQUE VALUE PROPOSITION"/>
          <p:cNvSpPr/>
          <p:nvPr/>
        </p:nvSpPr>
        <p:spPr>
          <a:xfrm>
            <a:off x="5088636" y="1600200"/>
            <a:ext cx="2011680" cy="3154680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UNIQUE VALUE PROPOSITION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One platform, one connected journey: from who you are to your next step</a:t>
            </a:r>
          </a:p>
        </p:txBody>
      </p:sp>
      <p:sp>
        <p:nvSpPr>
          <p:cNvPr id="11" name="UNFAIR ADVANTAGE"/>
          <p:cNvSpPr/>
          <p:nvPr/>
        </p:nvSpPr>
        <p:spPr>
          <a:xfrm>
            <a:off x="7175754" y="1600200"/>
            <a:ext cx="2011680" cy="153962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UNFAIR ADVANTAGE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Career, education, skill-gap and job guidance in a single flow</a:t>
            </a:r>
          </a:p>
        </p:txBody>
      </p:sp>
      <p:sp>
        <p:nvSpPr>
          <p:cNvPr id="12" name="CHANNELS"/>
          <p:cNvSpPr/>
          <p:nvPr/>
        </p:nvSpPr>
        <p:spPr>
          <a:xfrm>
            <a:off x="7175754" y="3215259"/>
            <a:ext cx="2011680" cy="153962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CHANNELS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College tie-ups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Student communities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Web and mobile access</a:t>
            </a:r>
          </a:p>
        </p:txBody>
      </p:sp>
      <p:sp>
        <p:nvSpPr>
          <p:cNvPr id="13" name="CUSTOMER SEGMENTS"/>
          <p:cNvSpPr/>
          <p:nvPr/>
        </p:nvSpPr>
        <p:spPr>
          <a:xfrm>
            <a:off x="9262872" y="1600200"/>
            <a:ext cx="2011680" cy="3154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CUSTOMER SEGMENTS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Students choosing a career, course or college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Learners planning to upskill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Colleges that guide students (secondary)</a:t>
            </a:r>
          </a:p>
        </p:txBody>
      </p:sp>
      <p:sp>
        <p:nvSpPr>
          <p:cNvPr id="14" name="COST STRUCTURE"/>
          <p:cNvSpPr/>
          <p:nvPr/>
        </p:nvSpPr>
        <p:spPr>
          <a:xfrm>
            <a:off x="914400" y="4876038"/>
            <a:ext cx="5104638" cy="1188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COST STRUCTURE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Cloud hosting and storage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Development and upkeep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Collecting and updating course, college and scholarship data</a:t>
            </a:r>
          </a:p>
        </p:txBody>
      </p:sp>
      <p:sp>
        <p:nvSpPr>
          <p:cNvPr id="15" name="REVENUE STREAMS (PROPOSED)"/>
          <p:cNvSpPr/>
          <p:nvPr/>
        </p:nvSpPr>
        <p:spPr>
          <a:xfrm>
            <a:off x="6094476" y="4876038"/>
            <a:ext cx="5104638" cy="1188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Calibri"/>
              </a:rPr>
              <a:t>REVENUE STREAMS (PROPOSED)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Free basic guidance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Premium roadmap and mentoring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libri"/>
              </a:rPr>
              <a:t>Institution subscriptions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Need virtual CPU cores"/>
          <p:cNvSpPr/>
          <p:nvPr/>
        </p:nvSpPr>
        <p:spPr>
          <a:xfrm>
            <a:off x="914400" y="1600200"/>
            <a:ext cx="2423160" cy="2011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Calibri"/>
              </a:rPr>
              <a:t>4–8</a:t>
            </a:r>
          </a:p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virtual CPU cores</a:t>
            </a:r>
          </a:p>
        </p:txBody>
      </p:sp>
      <p:sp>
        <p:nvSpPr>
          <p:cNvPr id="8" name="Need RAM"/>
          <p:cNvSpPr/>
          <p:nvPr/>
        </p:nvSpPr>
        <p:spPr>
          <a:xfrm>
            <a:off x="3520440" y="1600200"/>
            <a:ext cx="2423160" cy="2011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Calibri"/>
              </a:rPr>
              <a:t>16–32 GB</a:t>
            </a:r>
          </a:p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RAM</a:t>
            </a:r>
          </a:p>
        </p:txBody>
      </p:sp>
      <p:sp>
        <p:nvSpPr>
          <p:cNvPr id="9" name="Need high-speed SSD storage"/>
          <p:cNvSpPr/>
          <p:nvPr/>
        </p:nvSpPr>
        <p:spPr>
          <a:xfrm>
            <a:off x="914400" y="3794760"/>
            <a:ext cx="2423160" cy="2011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Calibri"/>
              </a:rPr>
              <a:t>100+ GB</a:t>
            </a:r>
          </a:p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high-speed SSD storage</a:t>
            </a:r>
          </a:p>
        </p:txBody>
      </p:sp>
      <p:sp>
        <p:nvSpPr>
          <p:cNvPr id="10" name="Need server hosting"/>
          <p:cNvSpPr/>
          <p:nvPr/>
        </p:nvSpPr>
        <p:spPr>
          <a:xfrm>
            <a:off x="3520440" y="3794760"/>
            <a:ext cx="2423160" cy="2011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76809"/>
          <a:lstStyle/>
          <a:p>
            <a:pPr algn="ctr">
              <a:spcAft>
                <a:spcPts val="4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Calibri"/>
              </a:rPr>
              <a:t>Linux cloud</a:t>
            </a:r>
          </a:p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Calibri"/>
              </a:rPr>
              <a:t>server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5029200" cy="365760"/>
          </a:xfrm>
          <a:prstGeom prst="rect">
            <a:avLst/>
          </a:prstGeom>
          <a:noFill/>
        </p:spPr>
        <p:txBody>
          <a:bodyPr wrap="square" lIns="27432" rIns="27432" tIns="19202" bIns="1920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/>
              </a:rPr>
              <a:t>Infrastructure needed to run the platform</a:t>
            </a:r>
          </a:p>
        </p:txBody>
      </p:sp>
      <p:sp>
        <p:nvSpPr>
          <p:cNvPr id="12" name="Software"/>
          <p:cNvSpPr/>
          <p:nvPr/>
        </p:nvSpPr>
        <p:spPr>
          <a:xfrm>
            <a:off x="6217920" y="1600200"/>
            <a:ext cx="5056632" cy="13258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40817"/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Software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Java, JDK, VS Code, MySQL, GitHub and Canva are free or have free tiers</a:t>
            </a:r>
          </a:p>
        </p:txBody>
      </p:sp>
      <p:sp>
        <p:nvSpPr>
          <p:cNvPr id="13" name="Where the money goes"/>
          <p:cNvSpPr/>
          <p:nvPr/>
        </p:nvSpPr>
        <p:spPr>
          <a:xfrm>
            <a:off x="6217920" y="3063240"/>
            <a:ext cx="5056632" cy="1325880"/>
          </a:xfrm>
          <a:prstGeom prst="roundRect">
            <a:avLst>
              <a:gd name="adj" fmla="val 7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40817"/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Where the money goes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Cloud hosting and storage; keeping course, college and scholarship data current; outreach to colleges</a:t>
            </a:r>
          </a:p>
        </p:txBody>
      </p:sp>
      <p:sp>
        <p:nvSpPr>
          <p:cNvPr id="14" name="How it could be funded (proposed)"/>
          <p:cNvSpPr/>
          <p:nvPr/>
        </p:nvSpPr>
        <p:spPr>
          <a:xfrm>
            <a:off x="6217920" y="4526280"/>
            <a:ext cx="5056632" cy="13258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40817"/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How it could be funded (proposed)</a:t>
            </a:r>
          </a:p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libri"/>
              </a:rPr>
              <a:t>Institute support, student-innovation grants, institution subscriptions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cxnSp>
        <p:nvCxnSpPr>
          <p:cNvPr id="7" name="Connector 6"/>
          <p:cNvCxnSpPr/>
          <p:nvPr/>
        </p:nvCxnSpPr>
        <p:spPr>
          <a:xfrm>
            <a:off x="1777746" y="2103120"/>
            <a:ext cx="8633460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2E7D32"/>
                </a:solidFill>
                <a:latin typeface="Calibri"/>
              </a:rPr>
              <a:t>PHASE 1</a:t>
            </a:r>
          </a:p>
        </p:txBody>
      </p:sp>
      <p:sp>
        <p:nvSpPr>
          <p:cNvPr id="9" name="Oval 8"/>
          <p:cNvSpPr/>
          <p:nvPr/>
        </p:nvSpPr>
        <p:spPr>
          <a:xfrm>
            <a:off x="1503426" y="18288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Understand"/>
          <p:cNvSpPr/>
          <p:nvPr/>
        </p:nvSpPr>
        <p:spPr>
          <a:xfrm>
            <a:off x="960120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Understand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Problem, empathy and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092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2E7D32"/>
                </a:solidFill>
                <a:latin typeface="Calibri"/>
              </a:rPr>
              <a:t>PHASE 2</a:t>
            </a:r>
          </a:p>
        </p:txBody>
      </p:sp>
      <p:sp>
        <p:nvSpPr>
          <p:cNvPr id="12" name="Oval 11"/>
          <p:cNvSpPr/>
          <p:nvPr/>
        </p:nvSpPr>
        <p:spPr>
          <a:xfrm>
            <a:off x="3230118" y="18288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Ideate"/>
          <p:cNvSpPr/>
          <p:nvPr/>
        </p:nvSpPr>
        <p:spPr>
          <a:xfrm>
            <a:off x="2686812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Ideate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Six ideas narrowed by multi-voting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784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2E7D32"/>
                </a:solidFill>
                <a:latin typeface="Calibri"/>
              </a:rPr>
              <a:t>PHASE 3</a:t>
            </a:r>
          </a:p>
        </p:txBody>
      </p:sp>
      <p:sp>
        <p:nvSpPr>
          <p:cNvPr id="15" name="Oval 14"/>
          <p:cNvSpPr/>
          <p:nvPr/>
        </p:nvSpPr>
        <p:spPr>
          <a:xfrm>
            <a:off x="4956810" y="18288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Prototype"/>
          <p:cNvSpPr/>
          <p:nvPr/>
        </p:nvSpPr>
        <p:spPr>
          <a:xfrm>
            <a:off x="4413504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Prototype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Concept and student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595959"/>
                </a:solidFill>
                <a:latin typeface="Calibri"/>
              </a:rPr>
              <a:t>PHASE 4</a:t>
            </a:r>
          </a:p>
        </p:txBody>
      </p:sp>
      <p:sp>
        <p:nvSpPr>
          <p:cNvPr id="18" name="Oval 17"/>
          <p:cNvSpPr/>
          <p:nvPr/>
        </p:nvSpPr>
        <p:spPr>
          <a:xfrm>
            <a:off x="6683502" y="1828800"/>
            <a:ext cx="548640" cy="54864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Calibri"/>
              </a:rPr>
              <a:t>4</a:t>
            </a:r>
          </a:p>
        </p:txBody>
      </p:sp>
      <p:sp>
        <p:nvSpPr>
          <p:cNvPr id="19" name="Build core"/>
          <p:cNvSpPr/>
          <p:nvPr/>
        </p:nvSpPr>
        <p:spPr>
          <a:xfrm>
            <a:off x="6140196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Build core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Profile, assessment, career match and skill gap in Java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1168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595959"/>
                </a:solidFill>
                <a:latin typeface="Calibri"/>
              </a:rPr>
              <a:t>PHASE 5</a:t>
            </a:r>
          </a:p>
        </p:txBody>
      </p:sp>
      <p:sp>
        <p:nvSpPr>
          <p:cNvPr id="21" name="Oval 20"/>
          <p:cNvSpPr/>
          <p:nvPr/>
        </p:nvSpPr>
        <p:spPr>
          <a:xfrm>
            <a:off x="8410194" y="1828800"/>
            <a:ext cx="548640" cy="54864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Calibri"/>
              </a:rPr>
              <a:t>5</a:t>
            </a:r>
          </a:p>
        </p:txBody>
      </p:sp>
      <p:sp>
        <p:nvSpPr>
          <p:cNvPr id="22" name="Expand"/>
          <p:cNvSpPr/>
          <p:nvPr/>
        </p:nvSpPr>
        <p:spPr>
          <a:xfrm>
            <a:off x="7866888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Expand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Course and college finder, roadmap, scholarship tracking, job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7860" y="1554480"/>
            <a:ext cx="1726692" cy="32004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1" i="0">
                <a:solidFill>
                  <a:srgbClr val="595959"/>
                </a:solidFill>
                <a:latin typeface="Calibri"/>
              </a:rPr>
              <a:t>PHASE 6</a:t>
            </a:r>
          </a:p>
        </p:txBody>
      </p:sp>
      <p:sp>
        <p:nvSpPr>
          <p:cNvPr id="24" name="Oval 23"/>
          <p:cNvSpPr/>
          <p:nvPr/>
        </p:nvSpPr>
        <p:spPr>
          <a:xfrm>
            <a:off x="10136885" y="1828800"/>
            <a:ext cx="548640" cy="54864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Calibri"/>
              </a:rPr>
              <a:t>6</a:t>
            </a:r>
          </a:p>
        </p:txBody>
      </p:sp>
      <p:sp>
        <p:nvSpPr>
          <p:cNvPr id="25" name="Grow"/>
          <p:cNvSpPr/>
          <p:nvPr/>
        </p:nvSpPr>
        <p:spPr>
          <a:xfrm>
            <a:off x="9593580" y="2606040"/>
            <a:ext cx="1635252" cy="23774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6809" bIns="76809"/>
          <a:lstStyle/>
          <a:p>
            <a:pPr algn="ctr">
              <a:spcAft>
                <a:spcPts val="600"/>
              </a:spcAft>
              <a:buNone/>
            </a:pPr>
            <a:r>
              <a:rPr sz="1700" b="1" i="0">
                <a:solidFill>
                  <a:srgbClr val="262626"/>
                </a:solidFill>
                <a:latin typeface="Calibri"/>
              </a:rPr>
              <a:t>Grow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Calibri"/>
              </a:rPr>
              <a:t>AI-driven recommendations as the platform matures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4937760" cy="45720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2E7D32"/>
                </a:solidFill>
                <a:latin typeface="Calibri"/>
              </a:rPr>
              <a:t>Completed through design thinking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12080"/>
            <a:ext cx="4965192" cy="457200"/>
          </a:xfrm>
          <a:prstGeom prst="rect">
            <a:avLst/>
          </a:prstGeom>
          <a:noFill/>
        </p:spPr>
        <p:txBody>
          <a:bodyPr wrap="square" lIns="18288" rIns="18288" tIns="12801" bIns="12801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1" i="0">
                <a:solidFill>
                  <a:srgbClr val="595959"/>
                </a:solidFill>
                <a:latin typeface="Calibri"/>
              </a:rPr>
              <a:t>Next steps for the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252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Carlito</vt:lpstr>
      <vt:lpstr>Trebuchet MS</vt:lpstr>
      <vt:lpstr>Office Theme</vt:lpstr>
      <vt:lpstr>Title of the Project</vt:lpstr>
      <vt:lpstr>Team Members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Lean Canvas Model</vt:lpstr>
      <vt:lpstr>Capital (Financial)</vt:lpstr>
      <vt:lpstr>Roadmap/Timeline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Dr.G.Suresh Kumar</cp:lastModifiedBy>
  <cp:revision>6</cp:revision>
  <dcterms:created xsi:type="dcterms:W3CDTF">2024-11-15T04:43:19Z</dcterms:created>
  <dcterms:modified xsi:type="dcterms:W3CDTF">2026-09-25T15:42:21Z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